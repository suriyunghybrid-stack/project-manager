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4572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1E3A5F"/>
                </a:solidFill>
              </a:rPr>
              <a:t>⚙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AUTOMOTIVE JIG &amp; FIXTURE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Industry Standard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Workflow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บริษัทชั้นนำในอุตสาหกรรมยานยนต์ใช้ขั้นตอนเหล่านี้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เป็นมาตรฐานสากล (APQP / PPAP / IATF 16949)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ขั้นตอนหลัก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945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งาน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7316"/>
                </a:solidFill>
              </a:rPr>
              <a:t>IATF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16949 Standard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ProjectPro Online  •  Jig &amp; Fixture Workflow Reference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 ขั้นตอนมาตรฐาน — Jig &amp; Fixture Automotive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ภาพรวมกระบวนการที่บริษัท Tier-1 / Tier-2 ส่วนใหญ่ใช้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92024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Phase 1 · Customer Engagement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340864" y="822960"/>
            <a:ext cx="251460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0864" y="822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Phase 2 · Engineering &amp; Design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020056" y="822960"/>
            <a:ext cx="21031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0056" y="822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Phase 3 · Manufacturing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7287768" y="822960"/>
            <a:ext cx="158191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7768" y="82296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Phase 4 · QC &amp; Delivery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6032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51560"/>
            <a:ext cx="6583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6032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RFQ / Inquiry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83464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รับใบขอเสนอราคา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916229" y="1591056"/>
            <a:ext cx="34747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open"/>
          </a:ln>
        </p:spPr>
      </p:sp>
      <p:sp>
        <p:nvSpPr>
          <p:cNvPr id="19" name="Shape 17"/>
          <p:cNvSpPr/>
          <p:nvPr/>
        </p:nvSpPr>
        <p:spPr>
          <a:xfrm>
            <a:off x="950976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1051560"/>
            <a:ext cx="6583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50976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Quotation &amp; PO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978408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เสนอราคา + ได้ PO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611173" y="1591056"/>
            <a:ext cx="34747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1645920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1051560"/>
            <a:ext cx="6583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45920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3352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Project Kickoff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>
            <a:off x="1673352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เปิดโปรเจค + ทีม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2306117" y="1591056"/>
            <a:ext cx="34747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open"/>
          </a:ln>
        </p:spPr>
      </p:sp>
      <p:sp>
        <p:nvSpPr>
          <p:cNvPr id="33" name="Shape 31"/>
          <p:cNvSpPr/>
          <p:nvPr/>
        </p:nvSpPr>
        <p:spPr>
          <a:xfrm>
            <a:off x="2340864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0864" y="1051560"/>
            <a:ext cx="6583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40864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340864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📊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368296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APQP / PFMEA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2368296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วางแผนคุณภาพล่วงหน้า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3001061" y="1591056"/>
            <a:ext cx="34747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open"/>
          </a:ln>
        </p:spPr>
      </p:sp>
      <p:sp>
        <p:nvSpPr>
          <p:cNvPr id="40" name="Shape 38"/>
          <p:cNvSpPr/>
          <p:nvPr/>
        </p:nvSpPr>
        <p:spPr>
          <a:xfrm>
            <a:off x="3035808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5808" y="1051560"/>
            <a:ext cx="6583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5808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35808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🖥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063240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3D CAD Design</a:t>
            </a:r>
            <a:endParaRPr lang="en-US" sz="580" dirty="0"/>
          </a:p>
        </p:txBody>
      </p:sp>
      <p:sp>
        <p:nvSpPr>
          <p:cNvPr id="45" name="Text 43"/>
          <p:cNvSpPr/>
          <p:nvPr/>
        </p:nvSpPr>
        <p:spPr>
          <a:xfrm>
            <a:off x="3063240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ออกแบบ 3D + Simulation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3696005" y="1591056"/>
            <a:ext cx="34747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open"/>
          </a:ln>
        </p:spPr>
      </p:sp>
      <p:sp>
        <p:nvSpPr>
          <p:cNvPr id="47" name="Shape 45"/>
          <p:cNvSpPr/>
          <p:nvPr/>
        </p:nvSpPr>
        <p:spPr>
          <a:xfrm>
            <a:off x="3730752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30752" y="1051560"/>
            <a:ext cx="6583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0752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6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730752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📐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758184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2D Drawing + BOM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3758184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แบบ 2D + รายการวัสดุ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4390949" y="1591056"/>
            <a:ext cx="34747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open"/>
          </a:ln>
        </p:spPr>
      </p:sp>
      <p:sp>
        <p:nvSpPr>
          <p:cNvPr id="54" name="Shape 52"/>
          <p:cNvSpPr/>
          <p:nvPr/>
        </p:nvSpPr>
        <p:spPr>
          <a:xfrm>
            <a:off x="4425696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25696" y="1051560"/>
            <a:ext cx="6583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7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425696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🛒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53128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Procurement</a:t>
            </a:r>
            <a:endParaRPr lang="en-US" sz="580" dirty="0"/>
          </a:p>
        </p:txBody>
      </p:sp>
      <p:sp>
        <p:nvSpPr>
          <p:cNvPr id="59" name="Text 57"/>
          <p:cNvSpPr/>
          <p:nvPr/>
        </p:nvSpPr>
        <p:spPr>
          <a:xfrm>
            <a:off x="4453128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จัดซื้อวัสดุ / อะไหล่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5085893" y="1591056"/>
            <a:ext cx="34747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open"/>
          </a:ln>
        </p:spPr>
      </p:sp>
      <p:sp>
        <p:nvSpPr>
          <p:cNvPr id="61" name="Shape 59"/>
          <p:cNvSpPr/>
          <p:nvPr/>
        </p:nvSpPr>
        <p:spPr>
          <a:xfrm>
            <a:off x="5120640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20640" y="1051560"/>
            <a:ext cx="6583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8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120640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🔧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148072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Machining / Fab</a:t>
            </a:r>
            <a:endParaRPr lang="en-US" sz="580" dirty="0"/>
          </a:p>
        </p:txBody>
      </p:sp>
      <p:sp>
        <p:nvSpPr>
          <p:cNvPr id="66" name="Text 64"/>
          <p:cNvSpPr/>
          <p:nvPr/>
        </p:nvSpPr>
        <p:spPr>
          <a:xfrm>
            <a:off x="5148072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ตัด/กัด/CNC/เชื่อม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5780837" y="1591056"/>
            <a:ext cx="34747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open"/>
          </a:ln>
        </p:spPr>
      </p:sp>
      <p:sp>
        <p:nvSpPr>
          <p:cNvPr id="68" name="Shape 66"/>
          <p:cNvSpPr/>
          <p:nvPr/>
        </p:nvSpPr>
        <p:spPr>
          <a:xfrm>
            <a:off x="5815584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5584" y="1051560"/>
            <a:ext cx="6583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15584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9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815584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🔥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843016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Heat/Surface Treat</a:t>
            </a:r>
            <a:endParaRPr lang="en-US" sz="580" dirty="0"/>
          </a:p>
        </p:txBody>
      </p:sp>
      <p:sp>
        <p:nvSpPr>
          <p:cNvPr id="73" name="Text 71"/>
          <p:cNvSpPr/>
          <p:nvPr/>
        </p:nvSpPr>
        <p:spPr>
          <a:xfrm>
            <a:off x="5843016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ชุบ/อบ/ชุบแข็ง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6475781" y="1591056"/>
            <a:ext cx="34747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open"/>
          </a:ln>
        </p:spPr>
      </p:sp>
      <p:sp>
        <p:nvSpPr>
          <p:cNvPr id="75" name="Shape 73"/>
          <p:cNvSpPr/>
          <p:nvPr/>
        </p:nvSpPr>
        <p:spPr>
          <a:xfrm>
            <a:off x="6510528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10528" y="1051560"/>
            <a:ext cx="6583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10528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10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510528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⚙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537960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Assembly &amp; Fitting</a:t>
            </a:r>
            <a:endParaRPr lang="en-US" sz="580" dirty="0"/>
          </a:p>
        </p:txBody>
      </p:sp>
      <p:sp>
        <p:nvSpPr>
          <p:cNvPr id="80" name="Text 78"/>
          <p:cNvSpPr/>
          <p:nvPr/>
        </p:nvSpPr>
        <p:spPr>
          <a:xfrm>
            <a:off x="6537960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ประกอบ + ปรับตั้ง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7170725" y="1591056"/>
            <a:ext cx="34747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open"/>
          </a:ln>
        </p:spPr>
      </p:sp>
      <p:sp>
        <p:nvSpPr>
          <p:cNvPr id="82" name="Shape 80"/>
          <p:cNvSpPr/>
          <p:nvPr/>
        </p:nvSpPr>
        <p:spPr>
          <a:xfrm>
            <a:off x="7205472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05472" y="1051560"/>
            <a:ext cx="6583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05472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11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205472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🔍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232904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CMM / FAI</a:t>
            </a:r>
            <a:endParaRPr lang="en-US" sz="580" dirty="0"/>
          </a:p>
        </p:txBody>
      </p:sp>
      <p:sp>
        <p:nvSpPr>
          <p:cNvPr id="87" name="Text 85"/>
          <p:cNvSpPr/>
          <p:nvPr/>
        </p:nvSpPr>
        <p:spPr>
          <a:xfrm>
            <a:off x="7232904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วัดละเอียด + First Article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7865669" y="1591056"/>
            <a:ext cx="34747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open"/>
          </a:ln>
        </p:spPr>
      </p:sp>
      <p:sp>
        <p:nvSpPr>
          <p:cNvPr id="89" name="Shape 87"/>
          <p:cNvSpPr/>
          <p:nvPr/>
        </p:nvSpPr>
        <p:spPr>
          <a:xfrm>
            <a:off x="7900416" y="1051560"/>
            <a:ext cx="658368" cy="1078992"/>
          </a:xfrm>
          <a:prstGeom prst="rect">
            <a:avLst/>
          </a:prstGeom>
          <a:solidFill>
            <a:srgbClr val="1621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00416" y="1051560"/>
            <a:ext cx="6583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900416" y="1115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12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7900416" y="1298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🚚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927848" y="15727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Delivery &amp; PPAP</a:t>
            </a:r>
            <a:endParaRPr lang="en-US" sz="580" dirty="0"/>
          </a:p>
        </p:txBody>
      </p:sp>
      <p:sp>
        <p:nvSpPr>
          <p:cNvPr id="94" name="Text 92"/>
          <p:cNvSpPr/>
          <p:nvPr/>
        </p:nvSpPr>
        <p:spPr>
          <a:xfrm>
            <a:off x="7927848" y="178308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ส่งมอบ + เอกสาร PPAP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274320" y="23317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เอกสารสำคัญที่ผลิตในแต่ละ Phase: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56032" y="2578608"/>
            <a:ext cx="1920240" cy="621792"/>
          </a:xfrm>
          <a:prstGeom prst="rect">
            <a:avLst/>
          </a:prstGeom>
          <a:solidFill>
            <a:srgbClr val="16213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6032" y="2578608"/>
            <a:ext cx="54864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" y="25968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Phase 1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347472" y="2770632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RFQ Form, Quotation Sheet, Purchase Order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2340864" y="2578608"/>
            <a:ext cx="2514600" cy="621792"/>
          </a:xfrm>
          <a:prstGeom prst="rect">
            <a:avLst/>
          </a:prstGeom>
          <a:solidFill>
            <a:srgbClr val="162130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40864" y="257860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32304" y="2596896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Phase 2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432304" y="2770632"/>
            <a:ext cx="2404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PFMEA, APQP Plan, 3D CAD, 2D DWG, BOM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5020056" y="2578608"/>
            <a:ext cx="2103120" cy="621792"/>
          </a:xfrm>
          <a:prstGeom prst="rect">
            <a:avLst/>
          </a:prstGeom>
          <a:solidFill>
            <a:srgbClr val="16213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020056" y="2578608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11496" y="259689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Phase 3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5111496" y="2770632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Work Orders, Material Certs, Heat Treat Cert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7287768" y="2578608"/>
            <a:ext cx="1581912" cy="621792"/>
          </a:xfrm>
          <a:prstGeom prst="rect">
            <a:avLst/>
          </a:prstGeom>
          <a:solidFill>
            <a:srgbClr val="16213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87768" y="2578608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379208" y="259689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Phase 4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379208" y="2770632"/>
            <a:ext cx="1472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</a:rPr>
              <a:t>CMM Report, FAI, PPAP, Delivery Note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274320" y="33375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มาตรฐานที่เกี่ยวข้อง: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256032" y="3566160"/>
            <a:ext cx="2011680" cy="685800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6032" y="3566160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9184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IATF 16949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329184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Quality Management System — Automotive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2414016" y="3566160"/>
            <a:ext cx="2011680" cy="685800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14016" y="356616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87168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APQP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2487168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Advanced Product Quality Planning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4572000" y="3566160"/>
            <a:ext cx="2011680" cy="685800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2000" y="356616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645152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PPAP Level 3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4645152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Production Part Approval Process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6729984" y="3566160"/>
            <a:ext cx="2011680" cy="685800"/>
          </a:xfrm>
          <a:prstGeom prst="rect">
            <a:avLst/>
          </a:prstGeom>
          <a:solidFill>
            <a:srgbClr val="1621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729984" y="356616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803136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PFMEA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6803136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Process Failure Mode &amp; Effects Analysis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ProjectPro Online  •  Industry Workflow Reference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434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 — Customer Engagement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" y="658368"/>
            <a:ext cx="4087368" cy="1298448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58368"/>
            <a:ext cx="54864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13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· รับ RFQ (Request for Quotation)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ลูกค้าส่ง Part Drawing (2D/3D) + Spec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ระบุ Quantity, Delivery Date, Budget target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กำหนด Lead Time ในการตอบ Quote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1682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891B2"/>
                </a:solidFill>
              </a:rPr>
              <a:t>📄 RFQ Form, Customer Drawing, Spec Sheet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4592" y="2093976"/>
            <a:ext cx="4087368" cy="1298448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2093976"/>
            <a:ext cx="54864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· วิเคราะห์และเสนอราคา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3957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ทีม Engineering ประเมิน Feasibility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คำนวณ Material + Machining + Labor cost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ส่ง Quotation พร้อม DFM Feedback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31181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891B2"/>
                </a:solidFill>
              </a:rPr>
              <a:t>📄 Quotation, Cost Breakdown, DFM Report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3529584"/>
            <a:ext cx="4087368" cy="1298448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3529584"/>
            <a:ext cx="54864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84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· ได้รับ PO &amp; เปิดโปรเจค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8313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ลูกค้าอนุมัติ → ส่ง Purchase Order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เปิด Project Order ในระบบ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Assign Project Manager + ทีมงาน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4553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891B2"/>
                </a:solidFill>
              </a:rPr>
              <a:t>📄 Purchase Order, Project Order, Team Assignment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0" y="0"/>
            <a:ext cx="457200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731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 — Engineering &amp; Design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658368"/>
            <a:ext cx="4297680" cy="1298448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658368"/>
            <a:ext cx="54864" cy="1298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71323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· APQP &amp; PFMEA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7448" y="960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วางแผนคุณภาพล่วงหน้า (Advanced Product Quality Planning)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ระบุ Risk ทุกขั้นตอน (Failure Mode + Effect)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กำหนด Control Plan + Detection Method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27448" y="16824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97316"/>
                </a:solidFill>
              </a:rPr>
              <a:t>📄 PFMEA, APQP Plan, Control Plan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617720" y="2093976"/>
            <a:ext cx="4297680" cy="1298448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093976"/>
            <a:ext cx="54864" cy="1298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1488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· 3D CAD Design + Simulation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27448" y="23957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ออกแบบ Jig/Fixture ใน CATIA / SolidWorks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ทำ FEA Simulation ตรวจสอบความแข็งแรง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Customer Approval Gate ก่อนออก 2D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27448" y="311810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97316"/>
                </a:solidFill>
              </a:rPr>
              <a:t>📄 3D CAD File, FEA Report, Design Approval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617720" y="3529584"/>
            <a:ext cx="4297680" cy="1298448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529584"/>
            <a:ext cx="54864" cy="1298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5844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 · 2D Drawing + BOM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27448" y="383133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ออก 2D Manufacturing Drawing ทุกชิ้นส่วน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จัดทำ Bill of Materials (BOM) ครบถ้วน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กำหนด Tolerance + GD&amp;T ครบ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27448" y="455371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97316"/>
                </a:solidFill>
              </a:rPr>
              <a:t>📄 2D Drawings, BOM, Tolerance Sheet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Phase 1 &amp; 2  •  Customer Engagement → Engineering &amp; Design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8463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 — Manufacturing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4544568" cy="98755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040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 · Procurement (จัดซื้อ/จัดหา)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9235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สั่งซื้อวัสดุตาม BOM (Steel, Hardened Material)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ตรวจรับ Material Certificate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In-coming QC ตรวจสอบมาตรฐาน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6032" y="14081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📄 PO, Material Certificate, Incoming Inspection Report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37160" y="1755648"/>
            <a:ext cx="4544568" cy="98755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755648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01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 · Machining &amp; Fabrication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20208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CNC Turning / Milling / EDM / Grinding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Welding / Bending ตามแบบ 2D Drawing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In-process Inspection ทุก Operation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25054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📄 Work Order, Process Sheet, In-process Report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37160" y="2852928"/>
            <a:ext cx="4544568" cy="98755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" y="2852928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8986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 · Heat / Surface Treatment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31181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ชุบแข็ง (Hardening), อบคืนตัว (Tempering)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Nitriding / Carburizing ตาม Spec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ชุบ Chrome / Nickel / Black Oxide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6032" y="36027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📄 Heat Treat Certificate, Hardness Report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37160" y="3950208"/>
            <a:ext cx="4544568" cy="987552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" y="3950208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9959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 · Assembly &amp; Fitting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4215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ประกอบชิ้นส่วนทั้งหมดตาม Assembly Drawing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ปรับตั้ง Clamp, Locating Pin, Sensor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Trial Run ทดสอบการทำงานของ Jig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" y="47000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📄 Assembly Checklist, Trial Run Report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029200" y="0"/>
            <a:ext cx="411480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73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 — QC &amp; Delivery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74920" y="658368"/>
            <a:ext cx="384048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658368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7132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 · CMM / FAI Inspection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3792" y="93268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วัด Dimension ด้วย CMM ทุก Critical Point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ทำ First Article Inspection Report (FAI)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Functional Test ครบ Spec ก่อน Approve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93792" y="15087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📄 CMM Report, FAI Report, Inspection Record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074920" y="1874520"/>
            <a:ext cx="3840480" cy="1097280"/>
          </a:xfrm>
          <a:prstGeom prst="rect">
            <a:avLst/>
          </a:prstGeom>
          <a:solidFill>
            <a:srgbClr val="1621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187452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1929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 · Delivery &amp; PPAP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93792" y="214884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จัดทำ PPAP Level 3 Package ครบถ้วน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Tryout ที่ลูกค้า (ถ้าต้องการ)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ส่งมอบพร้อมเอกสารครบถ้วน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193792" y="27249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📄 PPAP Package, Delivery Note, Warranty Card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074920" y="3090672"/>
            <a:ext cx="3840480" cy="1298448"/>
          </a:xfrm>
          <a:prstGeom prst="rect">
            <a:avLst/>
          </a:prstGeom>
          <a:solidFill>
            <a:srgbClr val="16213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74920" y="3090672"/>
            <a:ext cx="54864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31455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After-Sales &amp; Continuous Improvement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93792" y="33649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ติดตาม Corrective Action หากพบปัญหา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ECN (Engineering Change Notice)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Lesson Learned → เก็บเป็น Knowledge Base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Warranty Claim Management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193792" y="41148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891B2"/>
                </a:solidFill>
              </a:rPr>
              <a:t>📄 Corrective Action Report, ECN, Lesson Learned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Phase 3 &amp; 4  •  Manufacturing → QC &amp; Delivery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 ของคุณ vs. มาตรฐานอุตสาหกรรม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เปรียบเทียบขั้นตอนปัจจุบันและสิ่งที่บริษัทชั้นนำเพิ่มเติม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1887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82296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822960"/>
            <a:ext cx="31089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9344" y="8229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Workflow ของคุณ (ตัวอย่าง)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690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5464" y="82296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Industry Standard (เพิ่มเติม)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152144"/>
            <a:ext cx="8613648" cy="429768"/>
          </a:xfrm>
          <a:prstGeom prst="rect">
            <a:avLst/>
          </a:prstGeom>
          <a:solidFill>
            <a:srgbClr val="162130"/>
          </a:solidFill>
          <a:ln w="12700">
            <a:solidFill>
              <a:srgbClr val="1621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52144"/>
            <a:ext cx="45720" cy="429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170432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Pre-Sales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197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— (ไม่มีขั้นตอนนี้ชัดเจน)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11978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✅ RFQ Form, Feasibility Review, Formal Quotation, DFM Feedback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1613916"/>
            <a:ext cx="8613648" cy="4297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613916"/>
            <a:ext cx="45720" cy="429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632204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Kickoff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54480" y="16596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— (เริ่มออกแบบทันที)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16596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✅ Kickoff Meeting, APQP Plan, PFMEA, Team Assignment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2075688"/>
            <a:ext cx="8613648" cy="429768"/>
          </a:xfrm>
          <a:prstGeom prst="rect">
            <a:avLst/>
          </a:prstGeom>
          <a:solidFill>
            <a:srgbClr val="162130"/>
          </a:solidFill>
          <a:ln w="12700">
            <a:solidFill>
              <a:srgbClr val="1621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075688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093976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Design 3D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54480" y="2121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✅ 3D CAD (ออกแบบ 3D)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21214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✅ 3D CAD + FEA Simulation + Customer Approval Gate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2537460"/>
            <a:ext cx="8613648" cy="4297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537460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555748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Drawing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54480" y="25831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✅ 2D Drawing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5831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✅ 2D Drawing + GD&amp;T + BOM + Tolerance Review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2999232"/>
            <a:ext cx="8613648" cy="429768"/>
          </a:xfrm>
          <a:prstGeom prst="rect">
            <a:avLst/>
          </a:prstGeom>
          <a:solidFill>
            <a:srgbClr val="162130"/>
          </a:solidFill>
          <a:ln w="12700">
            <a:solidFill>
              <a:srgbClr val="1621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2999232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17520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Production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54480" y="3044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✅ Production (ผลิตรวม)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3044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✅ Procurement → Machining → HT → Assembly (แยก Stage ชัดเจน)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" y="3461004"/>
            <a:ext cx="8613648" cy="4297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461004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79292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QC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554480" y="35067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✅ QC (ตรวจสอบ)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35067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✅ CMM Inspection + FAI Report + PPAP Package + Functional Test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3922776"/>
            <a:ext cx="8613648" cy="429768"/>
          </a:xfrm>
          <a:prstGeom prst="rect">
            <a:avLst/>
          </a:prstGeom>
          <a:solidFill>
            <a:srgbClr val="162130"/>
          </a:solidFill>
          <a:ln w="12700">
            <a:solidFill>
              <a:srgbClr val="1621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3922776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941064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Delivery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554480" y="39684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✅ Delivery (ส่งมอบ)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39684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✅ Delivery + PPAP Submission + Customer Tryout + Warranty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4384548"/>
            <a:ext cx="8613648" cy="4297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4384548"/>
            <a:ext cx="45720" cy="429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402836"/>
            <a:ext cx="1115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Post-Sales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54480" y="44302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— (ไม่มีขั้นตอนนี้)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00600" y="44302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✅ Corrective Action, ECN, Lesson Learned, Warranty Management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6032" y="4828032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8097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มีอยู่แล้ว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37360" y="4828032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01952" y="48097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GAP — แนะนำให้เพิ่ม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Gap Analysis  •  ขั้นตอนที่ควรเพิ่มเพื่อยกระดับสู่มาตรฐาน IATF 16949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ProjectPro Online รองรับ Workflow นี้ได้อย่างไร?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Mapping ฟีเจอร์ ProjectPro เข้ากับแต่ละ Phase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206240" cy="1920240"/>
          </a:xfrm>
          <a:prstGeom prst="rect">
            <a:avLst/>
          </a:prstGeom>
          <a:solidFill>
            <a:srgbClr val="16213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22960"/>
            <a:ext cx="42062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22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 · Customer Engagement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1887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สร้าง Project ใหม่สำหรับแต่ละ RFQ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Task: วิเคราะห์ RFQ / ส่ง Quotation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File Attachments: แนบ Drawing + Spec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Comments: บันทึก Customer Feedback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2194560"/>
            <a:ext cx="4005072" cy="475488"/>
          </a:xfrm>
          <a:prstGeom prst="rect">
            <a:avLst/>
          </a:prstGeom>
          <a:solidFill>
            <a:srgbClr val="1A2A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23113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891B2"/>
                </a:solidFill>
              </a:rPr>
              <a:t>💡 เพิ่ม Status 'Quotation Sent' / 'PO Received' ใน Task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36592" y="822960"/>
            <a:ext cx="4206240" cy="1920240"/>
          </a:xfrm>
          <a:prstGeom prst="rect">
            <a:avLst/>
          </a:prstGeom>
          <a:solidFill>
            <a:srgbClr val="16213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822960"/>
            <a:ext cx="4206240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822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· Engineering &amp; Design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11887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Tasks: APQP, PFMEA, 3D Design, 2D Drawing, BOM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Task Dependencies: 3D → 2D → BOM (chain)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Gantt Chart: ดู Design Timeline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File Attachments: แนบ CAD File, Drawing PDF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28032" y="2194560"/>
            <a:ext cx="4005072" cy="475488"/>
          </a:xfrm>
          <a:prstGeom prst="rect">
            <a:avLst/>
          </a:prstGeom>
          <a:solidFill>
            <a:srgbClr val="1A2A3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223113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💡 สร้าง Template Project ที่มี Task ครบ Phase 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880360"/>
            <a:ext cx="4206240" cy="1920240"/>
          </a:xfrm>
          <a:prstGeom prst="rect">
            <a:avLst/>
          </a:prstGeom>
          <a:solidFill>
            <a:srgbClr val="1621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880360"/>
            <a:ext cx="4206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8803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 · Manufacturing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2461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Tasks แยก: Procurement / Machining / HT / Assembly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Assignee: มอบหมายแต่ละขั้นให้ช่าง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Realtime Sync: PM เห็นความคืบหน้า Live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Notifications: แจ้งเตือนเมื่องานแล้วเสร็จ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4251960"/>
            <a:ext cx="4005072" cy="475488"/>
          </a:xfrm>
          <a:prstGeom prst="rect">
            <a:avLst/>
          </a:prstGeom>
          <a:solidFill>
            <a:srgbClr val="1A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28853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💡 เพิ่ม Kanban Board แบบ Production Stage (10 columns)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36592" y="2880360"/>
            <a:ext cx="4206240" cy="1920240"/>
          </a:xfrm>
          <a:prstGeom prst="rect">
            <a:avLst/>
          </a:prstGeom>
          <a:solidFill>
            <a:srgbClr val="1621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2880360"/>
            <a:ext cx="420624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8803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 · QC &amp; Delivery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32461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Tasks: CMM Inspection / FAI / PPAP / Delivery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File Attachments: แนบ CMM Report, QC Record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Comments: บันทึกผล Inspection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LINE Notify: แจ้งลูกค้าเมื่อพร้อมส่งมอบ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28032" y="4251960"/>
            <a:ext cx="4005072" cy="475488"/>
          </a:xfrm>
          <a:prstGeom prst="rect">
            <a:avLst/>
          </a:prstGeom>
          <a:solidFill>
            <a:srgbClr val="1A2A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428853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💡 เพิ่ม QC Record Form + Digital Sign-off ในระบบ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ProjectPro Mapping  •  ทุก Phase ครอบคลุมด้วยฟีเจอร์ที่มีอยู่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4572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แนะนำขั้นต่อไป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 สิ่งที่ทำได้ทันทีเพื่อยกระดับ Workflow ให้ใกล้มาตรฐาน IATF 16949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5577840" cy="1234440"/>
          </a:xfrm>
          <a:prstGeom prst="rect">
            <a:avLst/>
          </a:prstGeom>
          <a:solidFill>
            <a:srgbClr val="1621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2296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869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905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สร้าง Project Template (Jig &amp; Fixture)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2527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สร้าง Template Project ที่มี Task ครบทุกขั้นตอนตั้งแต่ RFQ จนถึง Delivery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เปิดโปรเจคใหม่แต่ละครั้งไม่ต้องสร้างจากศูนย์ ลดเวลา Setup 80%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4048" y="1828800"/>
            <a:ext cx="2560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8288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⚡ ประหยัดเวลา Setup ได้ 80%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6032" y="2176272"/>
            <a:ext cx="5577840" cy="1234440"/>
          </a:xfrm>
          <a:prstGeom prst="rect">
            <a:avLst/>
          </a:prstGeom>
          <a:solidFill>
            <a:srgbClr val="16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176272"/>
            <a:ext cx="54864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40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258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เพิ่ม QC Record Form ในระบบ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6060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บันทึกผล CMM / Inspection ตรงในระบบ ProjectPro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แนบ CMM Report PDF ผ่าน File Attachments + เพิ่ม Custom Field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3182112"/>
            <a:ext cx="25603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82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⚡ ลด Paper Report + ค้นหาได้ทันที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6032" y="3529584"/>
            <a:ext cx="5577840" cy="1234440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529584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935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 Stage Kanban 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9593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เพิ่ม Board View สำหรับสาย Manufacturing: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Raw Mat → Machining → HT → Assembly → QC → Shipping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ช่างเห็น Status งานตัวเองแบบ Real-time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4048" y="4535424"/>
            <a:ext cx="2560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5354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⚡ PM เห็น Bottleneck ได้ทันที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172200" y="292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สรุปภาพรวม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658368"/>
            <a:ext cx="2834640" cy="594360"/>
          </a:xfrm>
          <a:prstGeom prst="rect">
            <a:avLst/>
          </a:prstGeom>
          <a:solidFill>
            <a:srgbClr val="16213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7040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ขั้นตอนที่มีอยู่แล้ว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91072" y="9052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7 / 12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2200" y="1371600"/>
            <a:ext cx="2834640" cy="594360"/>
          </a:xfrm>
          <a:prstGeom prst="rect">
            <a:avLst/>
          </a:prstGeom>
          <a:solidFill>
            <a:srgbClr val="162130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14173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ขั้นตอน GAP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91072" y="1618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3 / 12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2084832"/>
            <a:ext cx="2834640" cy="594360"/>
          </a:xfrm>
          <a:prstGeom prst="rect">
            <a:avLst/>
          </a:prstGeom>
          <a:solidFill>
            <a:srgbClr val="162130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1305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เอกสาร PPAP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91072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ยังไม่มี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2798064"/>
            <a:ext cx="2834640" cy="594360"/>
          </a:xfrm>
          <a:prstGeom prst="rect">
            <a:avLst/>
          </a:prstGeom>
          <a:solidFill>
            <a:srgbClr val="16213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84378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ProjectPro Coverage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91072" y="3044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~85%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72200" y="36758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"ProjectPro ออกแบบมาให้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รองรับ Workflow นี้ได้ครบถ้วน"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56048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9262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Next Steps  •  ยกระดับ ProjectPro ให้ครบ IATF 16949 Workflow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Jig &amp; Fixture Manufacturing — Industry Standard Workflow</dc:title>
  <dc:subject>PptxGenJS Presentation</dc:subject>
  <dc:creator>PptxGenJS</dc:creator>
  <cp:lastModifiedBy>PptxGenJS</cp:lastModifiedBy>
  <cp:revision>1</cp:revision>
  <dcterms:created xsi:type="dcterms:W3CDTF">2026-03-07T02:15:12Z</dcterms:created>
  <dcterms:modified xsi:type="dcterms:W3CDTF">2026-03-07T02:15:12Z</dcterms:modified>
</cp:coreProperties>
</file>